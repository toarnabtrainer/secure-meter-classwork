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900" b="1">
                <a:solidFill>
                  <a:srgbClr val="FFFFFF"/>
                </a:solidFill>
              </a:rPr>
              <a:t>Hypothesis Testing
16 Infographics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6E4CAA"/>
                </a:solidFill>
              </a:rPr>
              <a:t>Compiled presentation for study, teaching, and training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111099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108991"/>
                </a:solidFill>
              </a:defRPr>
            </a:pPr>
            <a:r>
              <a:rPr dirty="0"/>
              <a:t>1. </a:t>
            </a:r>
            <a:r>
              <a:t>Module 1: Foundations of Hypothesis Testing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dirty="0"/>
              <a:t>• Introduction to Hypothesis Testing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dirty="0"/>
              <a:t>• Statistical Hypothesis and Population Parameter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dirty="0"/>
              <a:t>• Null Hypothesis vs Alternative Hypothesis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dirty="0"/>
              <a:t>• Writing Hypotheses Correctly: H₀ and H₁ Format</a:t>
            </a:r>
          </a:p>
          <a:p>
            <a:pPr>
              <a:defRPr sz="1800" b="1">
                <a:solidFill>
                  <a:srgbClr val="6E4CAA"/>
                </a:solidFill>
              </a:defRPr>
            </a:pPr>
            <a:r>
              <a:rPr dirty="0"/>
              <a:t>2. Module 2: Types of Hypothesis Tests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dirty="0"/>
              <a:t>• Right-Tailed Test: Testing for an Increase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dirty="0"/>
              <a:t>• Left-Tailed Test: Testing for a Decrease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dirty="0"/>
              <a:t>• Two-Tailed Test: Testing for Any Difference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dirty="0"/>
              <a:t>• Choosing the Correct Tail: Left, Right, or Two-Tailed Test</a:t>
            </a:r>
          </a:p>
          <a:p>
            <a:pPr>
              <a:defRPr sz="1800" b="1">
                <a:solidFill>
                  <a:srgbClr val="D97706"/>
                </a:solidFill>
              </a:defRPr>
            </a:pPr>
            <a:r>
              <a:rPr dirty="0"/>
              <a:t>3. Module 3: Traditional Testing Method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dirty="0"/>
              <a:t>• Traditional Method of Hypothesis Testing: Step-by-Step Workflow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dirty="0"/>
              <a:t>• Significance Level, Critical Region, and Rejection Region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dirty="0"/>
              <a:t>• Test Statistic and Critical Value Explained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dirty="0"/>
              <a:t>• P-Value Method: Interpreting Evidence Against H₀</a:t>
            </a:r>
          </a:p>
          <a:p>
            <a:pPr>
              <a:defRPr sz="1800" b="1">
                <a:solidFill>
                  <a:srgbClr val="166534"/>
                </a:solidFill>
              </a:defRPr>
            </a:pPr>
            <a:r>
              <a:rPr dirty="0"/>
              <a:t>4. Module 4: Outcomes, Errors, and Interpretation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dirty="0"/>
              <a:t>• Possible Outcomes of a Hypothesis Test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dirty="0"/>
              <a:t>• Type I and Type II Errors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dirty="0"/>
              <a:t>• Jury Trial Analogy for Hypothesis Testing</a:t>
            </a:r>
          </a:p>
          <a:p>
            <a:pPr lvl="1">
              <a:defRPr sz="1300">
                <a:solidFill>
                  <a:srgbClr val="1F2937"/>
                </a:solidFill>
              </a:defRPr>
            </a:pPr>
            <a:r>
              <a:rPr dirty="0"/>
              <a:t>• Hypothesis Testing Decision Map and Common Mistakes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Overview of all 16 infographics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70432"/>
            <a:ext cx="12191695" cy="2880360"/>
          </a:xfrm>
          <a:prstGeom prst="rect">
            <a:avLst/>
          </a:prstGeom>
          <a:solidFill>
            <a:srgbClr val="1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Module 1: Foundations of Hypothesis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4297680"/>
            <a:ext cx="10149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>
                <a:solidFill>
                  <a:srgbClr val="5C6673"/>
                </a:solidFill>
              </a:rPr>
              <a:t>4 infographic slides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Section 1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Introduction to Hypothesis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1: Foundations of Hypothesis Testing</a:t>
            </a:r>
          </a:p>
        </p:txBody>
      </p:sp>
      <p:pic>
        <p:nvPicPr>
          <p:cNvPr id="4" name="Picture 3" descr="introduction_to_hypothesis_testing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875" y="1097280"/>
            <a:ext cx="9585943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1 of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Statistical Hypothesis and Population Parameter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1: Foundations of Hypothesis Testing</a:t>
            </a:r>
          </a:p>
        </p:txBody>
      </p:sp>
      <p:pic>
        <p:nvPicPr>
          <p:cNvPr id="4" name="Picture 3" descr="statistical_hypothesis_cheat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875" y="1097280"/>
            <a:ext cx="9585943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2 of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Null Hypothesis vs Alternative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1: Foundations of Hypothesis Testing</a:t>
            </a:r>
          </a:p>
        </p:txBody>
      </p:sp>
      <p:pic>
        <p:nvPicPr>
          <p:cNvPr id="4" name="Picture 3" descr="null_vs_alternative_hypothesis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875" y="1097280"/>
            <a:ext cx="9585943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3 of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Writing Hypotheses Correctly: H₀ and H₁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1: Foundations of Hypothesis Testing</a:t>
            </a:r>
          </a:p>
        </p:txBody>
      </p:sp>
      <p:pic>
        <p:nvPicPr>
          <p:cNvPr id="4" name="Picture 3" descr="hypothesis_writing_h0_and_h1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875" y="1097280"/>
            <a:ext cx="9585943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4 of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70432"/>
            <a:ext cx="12191695" cy="2880360"/>
          </a:xfrm>
          <a:prstGeom prst="rect">
            <a:avLst/>
          </a:prstGeom>
          <a:solidFill>
            <a:srgbClr val="6E4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Module 2: Types of Hypothesis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4297680"/>
            <a:ext cx="10149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>
                <a:solidFill>
                  <a:srgbClr val="5C6673"/>
                </a:solidFill>
              </a:rPr>
              <a:t>4 infographic slides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Section 2 of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Right-Tailed Test: Testing for an Increase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2: Types of Hypothesis Tests</a:t>
            </a:r>
          </a:p>
        </p:txBody>
      </p:sp>
      <p:pic>
        <p:nvPicPr>
          <p:cNvPr id="4" name="Picture 3" descr="right_tailed_test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875" y="1097280"/>
            <a:ext cx="9585943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5 of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Left-Tailed Test: Testing for a Decrease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2: Types of Hypothesis Tests</a:t>
            </a:r>
          </a:p>
        </p:txBody>
      </p:sp>
      <p:pic>
        <p:nvPicPr>
          <p:cNvPr id="4" name="Picture 3" descr="left_tailed_test_testing_for_a_decre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875" y="1097280"/>
            <a:ext cx="9585943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6 of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Two-Tailed Test: Testing for Any Difference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2: Types of Hypothesis Tests</a:t>
            </a:r>
          </a:p>
        </p:txBody>
      </p:sp>
      <p:pic>
        <p:nvPicPr>
          <p:cNvPr id="4" name="Picture 3" descr="two_tailed_test_infographic_gu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875" y="1097280"/>
            <a:ext cx="9585943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7 of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Choosing the Correct Tail: Left, Right, or Two-Tailed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2: Types of Hypothesis Tests</a:t>
            </a:r>
          </a:p>
        </p:txBody>
      </p:sp>
      <p:pic>
        <p:nvPicPr>
          <p:cNvPr id="4" name="Picture 3" descr="hypothesis_testing_tail_selection_gu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875" y="1097280"/>
            <a:ext cx="9585943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8 of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70432"/>
            <a:ext cx="12191695" cy="2880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Module 3: Traditional Testing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4297680"/>
            <a:ext cx="10149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>
                <a:solidFill>
                  <a:srgbClr val="5C6673"/>
                </a:solidFill>
              </a:rPr>
              <a:t>4 infographic slides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Section 3 of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Traditional Method of Hypothesis Testing: Step-by-Step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3: Traditional Testing Method</a:t>
            </a:r>
          </a:p>
        </p:txBody>
      </p:sp>
      <p:pic>
        <p:nvPicPr>
          <p:cNvPr id="4" name="Picture 3" descr="hypothesis_testing_workflow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875" y="1097280"/>
            <a:ext cx="9585943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9 of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Significance Level, Critical Region, and Rejection Region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3: Traditional Testing Method</a:t>
            </a:r>
          </a:p>
        </p:txBody>
      </p:sp>
      <p:pic>
        <p:nvPicPr>
          <p:cNvPr id="4" name="Picture 3" descr="statistics_significance_regions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875" y="1097280"/>
            <a:ext cx="9585943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10 of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Test Statistic and Critical Value Explained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3: Traditional Testing Method</a:t>
            </a:r>
          </a:p>
        </p:txBody>
      </p:sp>
      <p:pic>
        <p:nvPicPr>
          <p:cNvPr id="4" name="Picture 3" descr="11_test_statistic_and_critical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1097280"/>
            <a:ext cx="959104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11 of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P-Value Method: Interpreting Evidence Against H₀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3: Traditional Testing Method</a:t>
            </a:r>
          </a:p>
        </p:txBody>
      </p:sp>
      <p:pic>
        <p:nvPicPr>
          <p:cNvPr id="4" name="Picture 3" descr="12_p_value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1097280"/>
            <a:ext cx="959104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12 of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70432"/>
            <a:ext cx="12191695" cy="28803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Module 4: Outcomes, Errors, and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4297680"/>
            <a:ext cx="10149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>
                <a:solidFill>
                  <a:srgbClr val="5C6673"/>
                </a:solidFill>
              </a:rPr>
              <a:t>4 infographic slides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Section 4 of 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Possible Outcomes of a Hypothesis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4: Outcomes, Errors, and Interpretation</a:t>
            </a:r>
          </a:p>
        </p:txBody>
      </p:sp>
      <p:pic>
        <p:nvPicPr>
          <p:cNvPr id="4" name="Picture 3" descr="13_possible_outcomes_hypothesis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1097280"/>
            <a:ext cx="959104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13 of 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Type I and Type II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4: Outcomes, Errors, and Interpretation</a:t>
            </a:r>
          </a:p>
        </p:txBody>
      </p:sp>
      <p:pic>
        <p:nvPicPr>
          <p:cNvPr id="4" name="Picture 3" descr="14_type_i_type_ii_err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1097280"/>
            <a:ext cx="959104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14 of 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Jury Trial Analogy for Hypothesis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4: Outcomes, Errors, and Interpretation</a:t>
            </a:r>
          </a:p>
        </p:txBody>
      </p:sp>
      <p:pic>
        <p:nvPicPr>
          <p:cNvPr id="4" name="Picture 3" descr="15_jury_trial_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1097280"/>
            <a:ext cx="959104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15 of 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Hypothesis Testing Decision Map and 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04672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6E4CAA"/>
                </a:solidFill>
              </a:rPr>
              <a:t>Module 4: Outcomes, Errors, and Interpretation</a:t>
            </a:r>
          </a:p>
        </p:txBody>
      </p:sp>
      <p:pic>
        <p:nvPicPr>
          <p:cNvPr id="4" name="Picture 3" descr="16_hypothesis_testing_decision_map_common_mistak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1097280"/>
            <a:ext cx="959104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097280"/>
            <a:ext cx="11825935" cy="5394960"/>
          </a:xfrm>
          <a:prstGeom prst="rect">
            <a:avLst/>
          </a:prstGeom>
          <a:noFill/>
          <a:ln w="15875"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16 of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536</Words>
  <Application>Microsoft Office PowerPoint</Application>
  <PresentationFormat>Widescreen</PresentationFormat>
  <Paragraphs>83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Arnab Chakraborty</cp:lastModifiedBy>
  <cp:revision>2</cp:revision>
  <dcterms:created xsi:type="dcterms:W3CDTF">2013-01-27T09:14:16Z</dcterms:created>
  <dcterms:modified xsi:type="dcterms:W3CDTF">2026-08-30T14:25:45Z</dcterms:modified>
  <cp:category/>
</cp:coreProperties>
</file>