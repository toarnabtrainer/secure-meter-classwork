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900" b="1">
                <a:solidFill>
                  <a:srgbClr val="FFFFFF"/>
                </a:solidFill>
              </a:rPr>
              <a:t>Data Description
18 Infographics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i="1">
                <a:solidFill>
                  <a:srgbClr val="6E4CAA"/>
                </a:solidFill>
              </a:rPr>
              <a:t>Compiled presentation for study, teaching, and training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965960"/>
            <a:ext cx="11109960" cy="4251960"/>
          </a:xfrm>
          <a:prstGeom prst="roundRect">
            <a:avLst/>
          </a:prstGeom>
          <a:solidFill>
            <a:srgbClr val="FFFFFF"/>
          </a:solidFill>
          <a:ln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108991"/>
                </a:solidFill>
              </a:defRPr>
            </a:pPr>
            <a:r>
              <a:t>1. Module 1: Foundations of Data Description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Data Description: Turning Raw Data into Meaningful Summary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Statistic vs Parameter: Sample Measure vs Population Measure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Measures of Central Tendency: Mean, Median, Mode, and Midrange</a:t>
            </a:r>
          </a:p>
          <a:p>
            <a:pPr>
              <a:defRPr sz="1800" b="1">
                <a:solidFill>
                  <a:srgbClr val="6E4CAA"/>
                </a:solidFill>
              </a:defRPr>
            </a:pPr>
            <a:r>
              <a:t>2. Module 2: Measures of Central Tendency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Arithmetic Mean: Sample Mean and Population Mean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Mean for Grouped Data: Using Frequency and Class Midpoints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Weighted Mean: When All Values Are Not Equally Important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Median: Finding the Middle of Ordered Data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Mode: Finding the Most Frequent Value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Midrange: Quick Center from Lowest and Highest Values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Choosing the Best Measure of Central Tendency</a:t>
            </a:r>
          </a:p>
          <a:p>
            <a:pPr>
              <a:defRPr sz="1800" b="1">
                <a:solidFill>
                  <a:srgbClr val="D97706"/>
                </a:solidFill>
              </a:defRPr>
            </a:pPr>
            <a:r>
              <a:t>3. Module 3: Shape of Data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Distribution Shapes and the Location of Mean, Median, and Mode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Skewness: Understanding Asymmetry in Data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Kurtosis: Sharpness and Flatness of a Distribution</a:t>
            </a:r>
          </a:p>
          <a:p>
            <a:pPr>
              <a:defRPr sz="1800" b="1">
                <a:solidFill>
                  <a:srgbClr val="166534"/>
                </a:solidFill>
              </a:defRPr>
            </a:pPr>
            <a:r>
              <a:t>4. Module 4: Measures of Variation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Measures of Variation: Why Spread Matters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Range: The Simplest Measure of Spread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Variance and Standard Deviation: Measuring Data Spread Around the Mean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Coefficient of Variation: Comparing Relative Variability</a:t>
            </a:r>
          </a:p>
          <a:p>
            <a:pPr>
              <a:defRPr sz="1800" b="1">
                <a:solidFill>
                  <a:srgbClr val="122D69"/>
                </a:solidFill>
              </a:defRPr>
            </a:pPr>
            <a:r>
              <a:t>5. Module 5: Boxplot, Z-Score, and Outliers</a:t>
            </a:r>
          </a:p>
          <a:p>
            <a:pPr lvl="1">
              <a:defRPr sz="1300">
                <a:solidFill>
                  <a:srgbClr val="1F2937"/>
                </a:solidFill>
              </a:defRPr>
            </a:pPr>
            <a:r>
              <a:t>• Boxplot, Five-Number Summary, Z-Score, and Outliers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Overview of all 18 infographics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70432"/>
            <a:ext cx="12191695" cy="2880360"/>
          </a:xfrm>
          <a:prstGeom prst="rect">
            <a:avLst/>
          </a:prstGeom>
          <a:solidFill>
            <a:srgbClr val="108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Module 1: Foundations of Data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29768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100">
                <a:solidFill>
                  <a:srgbClr val="5C6673"/>
                </a:solidFill>
              </a:rPr>
              <a:t>3 infographic slides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Section 1 of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Data Description: Turning Raw Data into Meaningful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1: Foundations of Data Description</a:t>
            </a:r>
          </a:p>
        </p:txBody>
      </p:sp>
      <p:pic>
        <p:nvPicPr>
          <p:cNvPr id="4" name="Picture 3" descr="01_data_description_meaningful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 of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Statistic vs Parameter: Sample Measure vs Population Measure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1: Foundations of Data Description</a:t>
            </a:r>
          </a:p>
        </p:txBody>
      </p:sp>
      <p:pic>
        <p:nvPicPr>
          <p:cNvPr id="4" name="Picture 3" descr="02_statistic_vs_param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2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Measures of Central Tendency: Mean, Median, Mode, and Midrange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1: Foundations of Data Description</a:t>
            </a:r>
          </a:p>
        </p:txBody>
      </p:sp>
      <p:pic>
        <p:nvPicPr>
          <p:cNvPr id="4" name="Picture 3" descr="03_measures_of_central_tendency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3 of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70432"/>
            <a:ext cx="12191695" cy="2880360"/>
          </a:xfrm>
          <a:prstGeom prst="rect">
            <a:avLst/>
          </a:prstGeom>
          <a:solidFill>
            <a:srgbClr val="6E4C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Module 2: Measures of Central Tendency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29768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100">
                <a:solidFill>
                  <a:srgbClr val="5C6673"/>
                </a:solidFill>
              </a:rPr>
              <a:t>7 infographic slides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Section 2 of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Arithmetic Mean: Sample Mean and Population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2: Measures of Central Tendency</a:t>
            </a:r>
          </a:p>
        </p:txBody>
      </p:sp>
      <p:pic>
        <p:nvPicPr>
          <p:cNvPr id="4" name="Picture 3" descr="04_arithmetic_mean_sample_popu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4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Mean for Grouped Data: Using Frequency and Class Midpoints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2: Measures of Central Tendency</a:t>
            </a:r>
          </a:p>
        </p:txBody>
      </p:sp>
      <p:pic>
        <p:nvPicPr>
          <p:cNvPr id="4" name="Picture 3" descr="05_grouped_data_mean_frequency_mid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5 of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Weighted Mean: When All Values Are Not Equally Important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2: Measures of Central Tendency</a:t>
            </a:r>
          </a:p>
        </p:txBody>
      </p:sp>
      <p:pic>
        <p:nvPicPr>
          <p:cNvPr id="4" name="Picture 3" descr="06_weighted_mean_importance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6 of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Median: Finding the Middle of Ordered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2: Measures of Central Tendency</a:t>
            </a:r>
          </a:p>
        </p:txBody>
      </p:sp>
      <p:pic>
        <p:nvPicPr>
          <p:cNvPr id="4" name="Picture 3" descr="07_median_middle_ordered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7 of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Mode: Finding the Most Frequent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2: Measures of Central Tendency</a:t>
            </a:r>
          </a:p>
        </p:txBody>
      </p:sp>
      <p:pic>
        <p:nvPicPr>
          <p:cNvPr id="4" name="Picture 3" descr="08_mode_most_frequent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8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Midrange: Quick Center from Lowest and Highest Values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2: Measures of Central Tendency</a:t>
            </a:r>
          </a:p>
        </p:txBody>
      </p:sp>
      <p:pic>
        <p:nvPicPr>
          <p:cNvPr id="4" name="Picture 3" descr="09_midrange_quick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9 of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Choosing the Best Measure of Central Tendency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2: Measures of Central Tendency</a:t>
            </a:r>
          </a:p>
        </p:txBody>
      </p:sp>
      <p:pic>
        <p:nvPicPr>
          <p:cNvPr id="4" name="Picture 3" descr="10_choosing_best_measure_central_tend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327" y="1097280"/>
            <a:ext cx="959104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10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70432"/>
            <a:ext cx="12191695" cy="28803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Module 3: Shape of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29768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100">
                <a:solidFill>
                  <a:srgbClr val="5C6673"/>
                </a:solidFill>
              </a:rPr>
              <a:t>3 infographic slides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Section 3 of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Distribution Shapes and the Location of Mean, Median, and Mode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3: Shape of Data</a:t>
            </a:r>
          </a:p>
        </p:txBody>
      </p:sp>
      <p:pic>
        <p:nvPicPr>
          <p:cNvPr id="4" name="Picture 3" descr="distribution_shapes_and_center_meas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207" y="1097280"/>
            <a:ext cx="719328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11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Skewness: Understanding Asymmetry in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3: Shape of Data</a:t>
            </a:r>
          </a:p>
        </p:txBody>
      </p:sp>
      <p:pic>
        <p:nvPicPr>
          <p:cNvPr id="4" name="Picture 3" descr="skewness_understanding_data_asym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207" y="1097280"/>
            <a:ext cx="719328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12 of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Kurtosis: Sharpness and Flatness of a Distribution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3: Shape of Data</a:t>
            </a:r>
          </a:p>
        </p:txBody>
      </p:sp>
      <p:pic>
        <p:nvPicPr>
          <p:cNvPr id="4" name="Picture 3" descr="kurtosis_distribution_shape_expla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207" y="1097280"/>
            <a:ext cx="719328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13 of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70432"/>
            <a:ext cx="12191695" cy="288036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Module 4: Measures of Variation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29768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100">
                <a:solidFill>
                  <a:srgbClr val="5C6673"/>
                </a:solidFill>
              </a:rPr>
              <a:t>4 infographic slides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Section 4 of 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Measures of Variation: Why Spread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4: Measures of Variation</a:t>
            </a:r>
          </a:p>
        </p:txBody>
      </p:sp>
      <p:pic>
        <p:nvPicPr>
          <p:cNvPr id="4" name="Picture 3" descr="measures_of_variation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207" y="1097280"/>
            <a:ext cx="719328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14 of 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Range: The Simplest Measure of Spread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4: Measures of Variation</a:t>
            </a:r>
          </a:p>
        </p:txBody>
      </p:sp>
      <p:pic>
        <p:nvPicPr>
          <p:cNvPr id="4" name="Picture 3" descr="statistics_range_cheat_sheet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207" y="1097280"/>
            <a:ext cx="719328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15 of 18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Variance and Standard Deviation: Measuring Data Spread Around the Mean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4: Measures of Variation</a:t>
            </a:r>
          </a:p>
        </p:txBody>
      </p:sp>
      <p:pic>
        <p:nvPicPr>
          <p:cNvPr id="4" name="Picture 3" descr="variance_and_standard_deviation_info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207" y="1097280"/>
            <a:ext cx="719328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16 of 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Coefficient of Variation: Comparing Relative Variability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4: Measures of Variation</a:t>
            </a:r>
          </a:p>
        </p:txBody>
      </p:sp>
      <p:pic>
        <p:nvPicPr>
          <p:cNvPr id="4" name="Picture 3" descr="coefficient_of_variation_comparison_gu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207" y="1097280"/>
            <a:ext cx="719328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17 of 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170432"/>
            <a:ext cx="12191695" cy="2880360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Module 5: Boxplot, Z-Score, and Outliers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4297680"/>
            <a:ext cx="101498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100">
                <a:solidFill>
                  <a:srgbClr val="5C6673"/>
                </a:solidFill>
              </a:rPr>
              <a:t>1 infographic slide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Section 5 of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/>
          <a:lstStyle/>
          <a:p>
            <a:pPr algn="l"/>
            <a:r>
              <a:rPr b="1" sz="2400">
                <a:solidFill>
                  <a:srgbClr val="FFFFFF"/>
                </a:solidFill>
              </a:rPr>
              <a:t>Boxplot, Five-Number Summary, Z-Score, and Outliers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04672"/>
            <a:ext cx="116128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 i="1">
                <a:solidFill>
                  <a:srgbClr val="6E4CAA"/>
                </a:solidFill>
              </a:rPr>
              <a:t>Module 5: Boxplot, Z-Score, and Outliers</a:t>
            </a:r>
          </a:p>
        </p:txBody>
      </p:sp>
      <p:pic>
        <p:nvPicPr>
          <p:cNvPr id="4" name="Picture 3" descr="statistics_cheat_sheet_boxplots_and_z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9207" y="1097280"/>
            <a:ext cx="7193280" cy="5394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82880" y="1097280"/>
            <a:ext cx="11825935" cy="5394960"/>
          </a:xfrm>
          <a:prstGeom prst="rect">
            <a:avLst/>
          </a:prstGeom>
          <a:noFill/>
          <a:ln w="15875">
            <a:solidFill>
              <a:srgbClr val="D4DA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122D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>
                <a:solidFill>
                  <a:srgbClr val="FFFFFF"/>
                </a:solidFill>
              </a:rPr>
              <a:t>Infographic 18 of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