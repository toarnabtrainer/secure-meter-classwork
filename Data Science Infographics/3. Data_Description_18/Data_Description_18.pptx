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48640" y="1237000"/>
            <a:ext cx="11109960" cy="5235096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108991"/>
                </a:solidFill>
              </a:defRPr>
            </a:pPr>
            <a:r>
              <a:rPr dirty="0"/>
              <a:t>1. Module 1: Foundations of Data Description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sz="1400" dirty="0"/>
              <a:t>• Data Description: Turning Raw Data into Meaningful Summary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sz="1400" dirty="0"/>
              <a:t>• Statistic vs Parameter: Sample Measure vs Population Measure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sz="1400" dirty="0"/>
              <a:t>• Measures of Central Tendency: Mean, Median, Mode, and Midrange</a:t>
            </a:r>
          </a:p>
          <a:p>
            <a:pPr>
              <a:defRPr sz="1800" b="1">
                <a:solidFill>
                  <a:srgbClr val="6E4CAA"/>
                </a:solidFill>
              </a:defRPr>
            </a:pPr>
            <a:r>
              <a:rPr dirty="0"/>
              <a:t>2. Module 2: Measures of Central Tendency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sz="1400" dirty="0"/>
              <a:t>• Arithmetic Mean: Sample Mean and Population Mean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sz="1400" dirty="0"/>
              <a:t>• Mean for Grouped Data: Using Frequency and Class Midpoints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sz="1400" dirty="0"/>
              <a:t>• Weighted Mean: When All Values Are Not Equally Important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sz="1400" dirty="0"/>
              <a:t>• Median: Finding the Middle of Ordered Data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sz="1400" dirty="0"/>
              <a:t>• Mode: Finding the Most Frequent Value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sz="1400" dirty="0"/>
              <a:t>• Midrange: Quick Center from Lowest and Highest Values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sz="1400" dirty="0"/>
              <a:t>• Choosing the Best Measure of Central Tendency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rPr dirty="0"/>
              <a:t>3. Module 3: Shape of Data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sz="1400" dirty="0"/>
              <a:t>• Distribution Shapes and the Location of Mean, Median, and Mode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sz="1400" dirty="0"/>
              <a:t>• Skewness: Understanding Asymmetry in Data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sz="1400" dirty="0"/>
              <a:t>• Kurtosis: Sharpness and Flatness of a Distribution</a:t>
            </a:r>
          </a:p>
          <a:p>
            <a:pPr>
              <a:defRPr sz="1800" b="1">
                <a:solidFill>
                  <a:srgbClr val="166534"/>
                </a:solidFill>
              </a:defRPr>
            </a:pPr>
            <a:r>
              <a:rPr dirty="0"/>
              <a:t>4. Module 4: Measures of Variation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sz="1400" dirty="0"/>
              <a:t>• Measures of Variation: Why Spread Matters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sz="1400" dirty="0"/>
              <a:t>• Range: The Simplest Measure of Spread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sz="1400" dirty="0"/>
              <a:t>• Variance and Standard Deviation: Measuring Data Spread Around the Mean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sz="1400" dirty="0"/>
              <a:t>• Coefficient of Variation: Comparing Relative Variability</a:t>
            </a:r>
          </a:p>
          <a:p>
            <a:pPr>
              <a:defRPr sz="1800" b="1">
                <a:solidFill>
                  <a:srgbClr val="122D69"/>
                </a:solidFill>
              </a:defRPr>
            </a:pPr>
            <a:r>
              <a:rPr dirty="0"/>
              <a:t>5. Module 5: Boxplot, Z-Score, and Outliers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sz="1400" dirty="0"/>
              <a:t>• Boxplot, Five-Number Summary, Z-Score, and Outliers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900" b="1">
                <a:solidFill>
                  <a:srgbClr val="FFFFFF"/>
                </a:solidFill>
              </a:rPr>
              <a:t>Data Description
18 Infographics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9277" y="916256"/>
            <a:ext cx="533248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Compiled presentation for study, teaching, and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Overview of all 18 infographics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70432"/>
            <a:ext cx="12191695" cy="2880360"/>
          </a:xfrm>
          <a:prstGeom prst="rect">
            <a:avLst/>
          </a:prstGeom>
          <a:solidFill>
            <a:srgbClr val="1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Module 1: Foundations of Data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9768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>
                <a:solidFill>
                  <a:srgbClr val="5C6673"/>
                </a:solidFill>
              </a:rPr>
              <a:t>3 infographic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Section 1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Data Description: Turning Raw Data into Meaningful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1: Foundations of Data Description</a:t>
            </a:r>
          </a:p>
        </p:txBody>
      </p:sp>
      <p:pic>
        <p:nvPicPr>
          <p:cNvPr id="4" name="Picture 3" descr="01_data_description_meaningful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 of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Statistic vs Parameter: Sample Measure vs Population Measure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1: Foundations of Data Description</a:t>
            </a:r>
          </a:p>
        </p:txBody>
      </p:sp>
      <p:pic>
        <p:nvPicPr>
          <p:cNvPr id="4" name="Picture 3" descr="02_statistic_vs_param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2 of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Measures of Central Tendency: Mean, Median, Mode, and Midrange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1: Foundations of Data Description</a:t>
            </a:r>
          </a:p>
        </p:txBody>
      </p:sp>
      <p:pic>
        <p:nvPicPr>
          <p:cNvPr id="4" name="Picture 3" descr="03_measures_of_central_tendenc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3 of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70432"/>
            <a:ext cx="12191695" cy="2880360"/>
          </a:xfrm>
          <a:prstGeom prst="rect">
            <a:avLst/>
          </a:prstGeom>
          <a:solidFill>
            <a:srgbClr val="6E4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Module 2: Measures of Central Tendency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9768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>
                <a:solidFill>
                  <a:srgbClr val="5C6673"/>
                </a:solidFill>
              </a:rPr>
              <a:t>7 infographic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Section 2 of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Arithmetic Mean: Sample Mean and Population 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2: Measures of Central Tendency</a:t>
            </a:r>
          </a:p>
        </p:txBody>
      </p:sp>
      <p:pic>
        <p:nvPicPr>
          <p:cNvPr id="4" name="Picture 3" descr="04_arithmetic_mean_sample_pop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4 of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Mean for Grouped Data: Using Frequency and Class Midpoints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2: Measures of Central Tendency</a:t>
            </a:r>
          </a:p>
        </p:txBody>
      </p:sp>
      <p:pic>
        <p:nvPicPr>
          <p:cNvPr id="4" name="Picture 3" descr="05_grouped_data_mean_frequency_mid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5 of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Weighted Mean: When All Values Are Not Equally Important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2: Measures of Central Tendency</a:t>
            </a:r>
          </a:p>
        </p:txBody>
      </p:sp>
      <p:pic>
        <p:nvPicPr>
          <p:cNvPr id="4" name="Picture 3" descr="06_weighted_mean_importance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6 of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Median: Finding the Middle of Ordered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2: Measures of Central Tendency</a:t>
            </a:r>
          </a:p>
        </p:txBody>
      </p:sp>
      <p:pic>
        <p:nvPicPr>
          <p:cNvPr id="4" name="Picture 3" descr="07_median_middle_ordered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7 of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Mode: Finding the Most Frequent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2: Measures of Central Tendency</a:t>
            </a:r>
          </a:p>
        </p:txBody>
      </p:sp>
      <p:pic>
        <p:nvPicPr>
          <p:cNvPr id="4" name="Picture 3" descr="08_mode_most_frequent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8 of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Midrange: Quick Center from Lowest and Highest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2: Measures of Central Tendency</a:t>
            </a:r>
          </a:p>
        </p:txBody>
      </p:sp>
      <p:pic>
        <p:nvPicPr>
          <p:cNvPr id="4" name="Picture 3" descr="09_midrange_quick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9 of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Choosing the Best Measure of Central Tendency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2: Measures of Central Tendency</a:t>
            </a:r>
          </a:p>
        </p:txBody>
      </p:sp>
      <p:pic>
        <p:nvPicPr>
          <p:cNvPr id="4" name="Picture 3" descr="10_choosing_best_measure_central_tend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10 of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70432"/>
            <a:ext cx="12191695" cy="2880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Module 3: Shape of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9768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>
                <a:solidFill>
                  <a:srgbClr val="5C6673"/>
                </a:solidFill>
              </a:rPr>
              <a:t>3 infographic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Section 3 of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Distribution Shapes and the Location of Mean, Median, and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3: Shape of Data</a:t>
            </a:r>
          </a:p>
        </p:txBody>
      </p:sp>
      <p:pic>
        <p:nvPicPr>
          <p:cNvPr id="4" name="Picture 3" descr="distribution_shapes_and_center_meas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207" y="1097280"/>
            <a:ext cx="719328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11 of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Skewness: Understanding Asymmetry in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3: Shape of Data</a:t>
            </a:r>
          </a:p>
        </p:txBody>
      </p:sp>
      <p:pic>
        <p:nvPicPr>
          <p:cNvPr id="4" name="Picture 3" descr="skewness_understanding_data_asym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207" y="1097280"/>
            <a:ext cx="719328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12 of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Kurtosis: Sharpness and Flatness of a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3: Shape of Data</a:t>
            </a:r>
          </a:p>
        </p:txBody>
      </p:sp>
      <p:pic>
        <p:nvPicPr>
          <p:cNvPr id="4" name="Picture 3" descr="kurtosis_distribution_shape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207" y="1097280"/>
            <a:ext cx="719328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13 of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70432"/>
            <a:ext cx="12191695" cy="2880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Module 4: Measures of Variation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9768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>
                <a:solidFill>
                  <a:srgbClr val="5C6673"/>
                </a:solidFill>
              </a:rPr>
              <a:t>4 infographic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Section 4 of 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Measures of Variation: Why Spread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4: Measures of Variation</a:t>
            </a:r>
          </a:p>
        </p:txBody>
      </p:sp>
      <p:pic>
        <p:nvPicPr>
          <p:cNvPr id="4" name="Picture 3" descr="measures_of_variation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207" y="1097280"/>
            <a:ext cx="719328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14 of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Range: The Simplest Measure of Spread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4: Measures of Variation</a:t>
            </a:r>
          </a:p>
        </p:txBody>
      </p:sp>
      <p:pic>
        <p:nvPicPr>
          <p:cNvPr id="4" name="Picture 3" descr="statistics_range_cheat_sheet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207" y="1097280"/>
            <a:ext cx="719328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15 of 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Variance and Standard Deviation: Measuring Data Spread Around the 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4: Measures of Variation</a:t>
            </a:r>
          </a:p>
        </p:txBody>
      </p:sp>
      <p:pic>
        <p:nvPicPr>
          <p:cNvPr id="4" name="Picture 3" descr="variance_and_standard_deviation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207" y="1097280"/>
            <a:ext cx="719328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16 of 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Coefficient of Variation: Comparing Relative Variability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4: Measures of Variation</a:t>
            </a:r>
          </a:p>
        </p:txBody>
      </p:sp>
      <p:pic>
        <p:nvPicPr>
          <p:cNvPr id="4" name="Picture 3" descr="coefficient_of_variation_comparison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207" y="1097280"/>
            <a:ext cx="719328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17 of 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70432"/>
            <a:ext cx="12191695" cy="2880360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Module 5: Boxplot, Z-Score, and Outliers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9768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>
                <a:solidFill>
                  <a:srgbClr val="5C6673"/>
                </a:solidFill>
              </a:rPr>
              <a:t>1 infographic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Section 5 of 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Boxplot, Five-Number Summary, Z-Score, and Outliers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5: Boxplot, Z-Score, and Outliers</a:t>
            </a:r>
          </a:p>
        </p:txBody>
      </p:sp>
      <p:pic>
        <p:nvPicPr>
          <p:cNvPr id="4" name="Picture 3" descr="statistics_cheat_sheet_boxplots_and_z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207" y="1097280"/>
            <a:ext cx="719328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18 of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660</Words>
  <Application>Microsoft Office PowerPoint</Application>
  <PresentationFormat>Widescreen</PresentationFormat>
  <Paragraphs>95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Arnab Chakraborty</cp:lastModifiedBy>
  <cp:revision>2</cp:revision>
  <dcterms:created xsi:type="dcterms:W3CDTF">2013-01-27T09:14:16Z</dcterms:created>
  <dcterms:modified xsi:type="dcterms:W3CDTF">2026-08-29T02:48:49Z</dcterms:modified>
  <cp:category/>
</cp:coreProperties>
</file>