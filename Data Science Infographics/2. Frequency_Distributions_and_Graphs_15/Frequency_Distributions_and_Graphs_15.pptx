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Frequency Distributions and Graphs
Infographics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D4CA4"/>
                </a:solidFill>
              </a:rPr>
              <a:t>15 infographic slides compiled into one presentation for study and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057400"/>
            <a:ext cx="10972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68D92"/>
                </a:solidFill>
              </a:defRPr>
            </a:pPr>
            <a:r>
              <a:t>1. Module 1: Organizing Data and Frequency Tables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Organizing Data: From Raw Data to Frequency Distribution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Anatomy of a Frequency Distribution Table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Building a Grouped Frequency Distribution: Step-by-Step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Categorical Frequency Distribution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Frequency, Relative Frequency, and Percentage Frequency</a:t>
            </a:r>
          </a:p>
          <a:p>
            <a:pPr>
              <a:defRPr b="1" sz="1800">
                <a:solidFill>
                  <a:srgbClr val="6D4CA4"/>
                </a:solidFill>
              </a:defRPr>
            </a:pPr>
            <a:r>
              <a:t>2. Module 2: Frequency Graphs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Histograms: Visualizing Numerical Frequency Distributions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Histograms: Advantages, Limitations, and Bin-Width Effects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Frequency Polygon: Connecting Class Midpoints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Ogive: Understanding Cumulative Frequency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Histogram vs Frequency Polygon vs Ogive</a:t>
            </a:r>
          </a:p>
          <a:p>
            <a:pPr>
              <a:defRPr b="1" sz="1800">
                <a:solidFill>
                  <a:srgbClr val="D97706"/>
                </a:solidFill>
              </a:defRPr>
            </a:pPr>
            <a:r>
              <a:t>3. Module 3: Distribution Shapes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Common Distribution Shapes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Reading Distribution Shapes for Insight</a:t>
            </a:r>
          </a:p>
          <a:p>
            <a:pPr>
              <a:defRPr b="1" sz="1800">
                <a:solidFill>
                  <a:srgbClr val="19357A"/>
                </a:solidFill>
              </a:defRPr>
            </a:pPr>
            <a:r>
              <a:t>4. Module 4: Other Graphs and Chart Selection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Bar Graphs and Pie Graphs for Categorical Data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Pareto Chart and Time Series Graph</a:t>
            </a:r>
          </a:p>
          <a:p>
            <a:pPr lvl="1">
              <a:defRPr sz="1400">
                <a:solidFill>
                  <a:srgbClr val="1F2937"/>
                </a:solidFill>
              </a:defRPr>
            </a:pPr>
            <a:r>
              <a:t>• Choosing the Right Graph: A Beginner Decision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Cover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91695" cy="2743200"/>
          </a:xfrm>
          <a:prstGeom prst="rect">
            <a:avLst/>
          </a:prstGeom>
          <a:solidFill>
            <a:srgbClr val="168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1: Organizing Data and Frequency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637381"/>
                </a:solidFill>
              </a:rPr>
              <a:t>5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1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Organizing Data: From Raw Data to Frequency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1: Organizing Data and Frequency Tables</a:t>
            </a:r>
          </a:p>
        </p:txBody>
      </p:sp>
      <p:pic>
        <p:nvPicPr>
          <p:cNvPr id="4" name="Picture 3" descr="organizing_data_infographic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Anatomy of a Frequency Distribution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1: Organizing Data and Frequency Tables</a:t>
            </a:r>
          </a:p>
        </p:txBody>
      </p:sp>
      <p:pic>
        <p:nvPicPr>
          <p:cNvPr id="4" name="Picture 3" descr="anatomy_of_a_frequency_distrib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2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Building a Grouped Frequency Distribution: Step-by-Step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1: Organizing Data and Frequency Tables</a:t>
            </a:r>
          </a:p>
        </p:txBody>
      </p:sp>
      <p:pic>
        <p:nvPicPr>
          <p:cNvPr id="4" name="Picture 3" descr="grouped_frequency_distribution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3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Categorical Frequency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1: Organizing Data and Frequency Tables</a:t>
            </a:r>
          </a:p>
        </p:txBody>
      </p:sp>
      <p:pic>
        <p:nvPicPr>
          <p:cNvPr id="4" name="Picture 3" descr="categorical_frequency_distribution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4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Frequency, Relative Frequency, and Percentage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1: Organizing Data and Frequency Tables</a:t>
            </a:r>
          </a:p>
        </p:txBody>
      </p:sp>
      <p:pic>
        <p:nvPicPr>
          <p:cNvPr id="4" name="Picture 3" descr="statistics_frequency_measures_chea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5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91695" cy="2743200"/>
          </a:xfrm>
          <a:prstGeom prst="rect">
            <a:avLst/>
          </a:prstGeom>
          <a:solidFill>
            <a:srgbClr val="6D4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2: Frequency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637381"/>
                </a:solidFill>
              </a:rPr>
              <a:t>5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2 of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Histograms: Visualizing Numerical Frequency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2: Frequency Graphs</a:t>
            </a:r>
          </a:p>
        </p:txBody>
      </p:sp>
      <p:pic>
        <p:nvPicPr>
          <p:cNvPr id="4" name="Picture 3" descr="histograms_visualizing_numerical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6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Histograms: Advantages, Limitations, and Bin-Width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2: Frequency Graphs</a:t>
            </a:r>
          </a:p>
        </p:txBody>
      </p:sp>
      <p:pic>
        <p:nvPicPr>
          <p:cNvPr id="4" name="Picture 3" descr="histogram_bin_width_effects_cheat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7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Frequency Polygon: Connecting Class Midpoints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2: Frequency Graphs</a:t>
            </a:r>
          </a:p>
        </p:txBody>
      </p:sp>
      <p:pic>
        <p:nvPicPr>
          <p:cNvPr id="4" name="Picture 3" descr="frequency_polygon_study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8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Ogive: Understanding Cumulative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2: Frequency Graphs</a:t>
            </a:r>
          </a:p>
        </p:txBody>
      </p:sp>
      <p:pic>
        <p:nvPicPr>
          <p:cNvPr id="4" name="Picture 3" descr="ogive_cumulative_frequency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9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Histogram vs Frequency Polygon vs Ogive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2: Frequency Graphs</a:t>
            </a:r>
          </a:p>
        </p:txBody>
      </p:sp>
      <p:pic>
        <p:nvPicPr>
          <p:cNvPr id="4" name="Picture 3" descr="comparing_histogram_polygon_and_og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730" y="1188720"/>
            <a:ext cx="9342233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10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91695" cy="274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3: Distribution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637381"/>
                </a:solidFill>
              </a:rPr>
              <a:t>2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3 of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Common Distribution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3: Distribution Shapes</a:t>
            </a:r>
          </a:p>
        </p:txBody>
      </p:sp>
      <p:pic>
        <p:nvPicPr>
          <p:cNvPr id="4" name="Picture 3" descr="11_common_distribution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47" y="1188720"/>
            <a:ext cx="9347200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11 of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Reading Distribution Shapes for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3: Distribution Shapes</a:t>
            </a:r>
          </a:p>
        </p:txBody>
      </p:sp>
      <p:pic>
        <p:nvPicPr>
          <p:cNvPr id="4" name="Picture 3" descr="12_reading_distribution_shapes_for_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47" y="1188720"/>
            <a:ext cx="9347200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12 of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12191695" cy="274320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Module 4: Other Graphs and Chart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>
                <a:solidFill>
                  <a:srgbClr val="637381"/>
                </a:solidFill>
              </a:rPr>
              <a:t>3 infographic slides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Section 4 of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Bar Graphs and Pie Graphs for Categorical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4: Other Graphs and Chart Selection</a:t>
            </a:r>
          </a:p>
        </p:txBody>
      </p:sp>
      <p:pic>
        <p:nvPicPr>
          <p:cNvPr id="4" name="Picture 3" descr="13_bar_graphs_and_pie_graphs_for_categorical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47" y="1188720"/>
            <a:ext cx="9347200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13 of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Pareto Chart and Time Series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4: Other Graphs and Chart Selection</a:t>
            </a:r>
          </a:p>
        </p:txBody>
      </p:sp>
      <p:pic>
        <p:nvPicPr>
          <p:cNvPr id="4" name="Picture 3" descr="14_pareto_chart_and_time_serie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47" y="1188720"/>
            <a:ext cx="9347200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14 of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600" b="1">
                <a:solidFill>
                  <a:srgbClr val="FFFFFF"/>
                </a:solidFill>
              </a:rPr>
              <a:t>Choosing the Right Graph: A Beginner Decision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D4CA4"/>
                </a:solidFill>
              </a:rPr>
              <a:t>Module 4: Other Graphs and Chart Selection</a:t>
            </a:r>
          </a:p>
        </p:txBody>
      </p:sp>
      <p:pic>
        <p:nvPicPr>
          <p:cNvPr id="4" name="Picture 3" descr="15_choosing_the_right_graph_decis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47" y="1188720"/>
            <a:ext cx="9347200" cy="5257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01168" y="1188720"/>
            <a:ext cx="11789359" cy="525780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9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</a:rPr>
              <a:t>Infographic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