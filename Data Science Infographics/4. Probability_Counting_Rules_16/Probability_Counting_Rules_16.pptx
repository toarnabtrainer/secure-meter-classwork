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Probability and Counting Rules
16 Infographics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D4CAA"/>
                </a:solidFill>
              </a:rPr>
              <a:t>Compiled presentation for study, training, and classroom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38528"/>
            <a:ext cx="11109960" cy="431596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8A91"/>
                </a:solidFill>
              </a:defRPr>
            </a:pPr>
            <a:r>
              <a:rPr dirty="0"/>
              <a:t>1. Module 1: Probability Foundations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Introduction to Probability in Statistics and Machine Learning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Probability Experiment, Trial, Outcome, and Sample Space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Building Sample Spaces: Coin Toss, Dice Roll, and Two-Dice Grid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Events in Probability: Simple Event vs Compound Event</a:t>
            </a:r>
          </a:p>
          <a:p>
            <a:pPr>
              <a:defRPr sz="1800" b="1">
                <a:solidFill>
                  <a:srgbClr val="6D4CAA"/>
                </a:solidFill>
              </a:defRPr>
            </a:pPr>
            <a:r>
              <a:rPr dirty="0"/>
              <a:t>2. Module 2: Interpretations of Probability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Three Interpretations of Probability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Classical Probability: Equally Likely Outcomes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Empirical Probability: Learning from Observed Frequencies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Subjective Probability: Expert Judgment and Estimated Likelihood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Classical vs Empirical vs Subjective Probability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rPr dirty="0"/>
              <a:t>3. Module 3: Probability Rules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Addition Rule for Mutually Exclusive Events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Addition Rule for Non-Mutually Exclusive Events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Multiplication Rule for Independent Events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Dependent Events and Conditional Probability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Conditional Probability Using Two-Way Tables</a:t>
            </a:r>
          </a:p>
          <a:p>
            <a:pPr>
              <a:defRPr sz="1800" b="1">
                <a:solidFill>
                  <a:srgbClr val="15803D"/>
                </a:solidFill>
              </a:defRPr>
            </a:pPr>
            <a:r>
              <a:rPr dirty="0"/>
              <a:t>4. Module 4: Counting and Formula Selection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Counting Rules for Probability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Probability Rule Decision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Overview of all 16 infographics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07008"/>
            <a:ext cx="12191695" cy="2834640"/>
          </a:xfrm>
          <a:prstGeom prst="rect">
            <a:avLst/>
          </a:prstGeom>
          <a:solidFill>
            <a:srgbClr val="11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1: Probability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7939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A6473"/>
                </a:solidFill>
              </a:rPr>
              <a:t>4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1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Introduction to Probability in Statistics and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1: Probability Foundations</a:t>
            </a:r>
          </a:p>
        </p:txBody>
      </p:sp>
      <p:pic>
        <p:nvPicPr>
          <p:cNvPr id="4" name="Picture 3" descr="01_introduction_to_probability_statistics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Probability Experiment, Trial, Outcome, and Sample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1: Probability Foundations</a:t>
            </a:r>
          </a:p>
        </p:txBody>
      </p:sp>
      <p:pic>
        <p:nvPicPr>
          <p:cNvPr id="4" name="Picture 3" descr="02_probability_experiment_trial_outcome_sample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2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Sample Spaces: Coin Toss, Dice Roll, and Two-Dice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1: Probability Foundations</a:t>
            </a:r>
          </a:p>
        </p:txBody>
      </p:sp>
      <p:pic>
        <p:nvPicPr>
          <p:cNvPr id="4" name="Picture 3" descr="03_building_sample_spaces_coin_dic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3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Events in Probability: Simple Event vs Compound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1: Probability Foundations</a:t>
            </a:r>
          </a:p>
        </p:txBody>
      </p:sp>
      <p:pic>
        <p:nvPicPr>
          <p:cNvPr id="4" name="Picture 3" descr="04_events_simple_vs_compound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4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07008"/>
            <a:ext cx="12191695" cy="2834640"/>
          </a:xfrm>
          <a:prstGeom prst="rect">
            <a:avLst/>
          </a:prstGeom>
          <a:solidFill>
            <a:srgbClr val="6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2: Interpretations of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7939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A6473"/>
                </a:solidFill>
              </a:rPr>
              <a:t>5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2 of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Three Interpretations of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2: Interpretations of Probability</a:t>
            </a:r>
          </a:p>
        </p:txBody>
      </p:sp>
      <p:pic>
        <p:nvPicPr>
          <p:cNvPr id="4" name="Picture 3" descr="05_three_interpretations_of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5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Classical Probability: Equally Likely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2: Interpretations of Probability</a:t>
            </a:r>
          </a:p>
        </p:txBody>
      </p:sp>
      <p:pic>
        <p:nvPicPr>
          <p:cNvPr id="4" name="Picture 3" descr="06_classical_probability_equally_likely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6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Empirical Probability: Learning from Observed Frequencies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2: Interpretations of Probability</a:t>
            </a:r>
          </a:p>
        </p:txBody>
      </p:sp>
      <p:pic>
        <p:nvPicPr>
          <p:cNvPr id="4" name="Picture 3" descr="07_empirical_probability_observed_frequ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7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Subjective Probability: Expert Judgment and Estimated Likelihood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2: Interpretations of Probability</a:t>
            </a:r>
          </a:p>
        </p:txBody>
      </p:sp>
      <p:pic>
        <p:nvPicPr>
          <p:cNvPr id="4" name="Picture 3" descr="08_subjective_probability_expert_jud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8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Classical vs Empirical vs Subjective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2: Interpretations of Probability</a:t>
            </a:r>
          </a:p>
        </p:txBody>
      </p:sp>
      <p:pic>
        <p:nvPicPr>
          <p:cNvPr id="4" name="Picture 3" descr="09_classical_vs_empirical_vs_subjective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9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07008"/>
            <a:ext cx="12191695" cy="2834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3: Probability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7939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A6473"/>
                </a:solidFill>
              </a:rPr>
              <a:t>5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3 of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Addition Rule for Mutually Exclusive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3: Probability Rules</a:t>
            </a:r>
          </a:p>
        </p:txBody>
      </p:sp>
      <p:pic>
        <p:nvPicPr>
          <p:cNvPr id="4" name="Picture 3" descr="10_addition_rule_mutually_exclusive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097280"/>
            <a:ext cx="944118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10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Addition Rule for Non-Mutually Exclusive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3: Probability Rules</a:t>
            </a:r>
          </a:p>
        </p:txBody>
      </p:sp>
      <p:pic>
        <p:nvPicPr>
          <p:cNvPr id="4" name="Picture 3" descr="11_addition_rule_non_mutually_exclusive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11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Multiplication Rule for Independent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3: Probability Rules</a:t>
            </a:r>
          </a:p>
        </p:txBody>
      </p:sp>
      <p:pic>
        <p:nvPicPr>
          <p:cNvPr id="4" name="Picture 3" descr="12_multiplication_rule_independent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12 of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Dependent Events and Conditional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3: Probability Rules</a:t>
            </a:r>
          </a:p>
        </p:txBody>
      </p:sp>
      <p:pic>
        <p:nvPicPr>
          <p:cNvPr id="4" name="Picture 3" descr="13_dependent_events_and_conditional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13 of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Conditional Probability Using Two-Way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3: Probability Rules</a:t>
            </a:r>
          </a:p>
        </p:txBody>
      </p:sp>
      <p:pic>
        <p:nvPicPr>
          <p:cNvPr id="4" name="Picture 3" descr="14_conditional_probability_two_way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14 of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07008"/>
            <a:ext cx="12191695" cy="2834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4: Counting and Formula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7939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A6473"/>
                </a:solidFill>
              </a:rPr>
              <a:t>2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4 of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Counting Rules for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4: Counting and Formula Selection</a:t>
            </a:r>
          </a:p>
        </p:txBody>
      </p:sp>
      <p:pic>
        <p:nvPicPr>
          <p:cNvPr id="4" name="Picture 3" descr="15_counting_rules_for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15 of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Probability Rule Decision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D4CAA"/>
                </a:solidFill>
              </a:rPr>
              <a:t>Module 4: Counting and Formula Selection</a:t>
            </a:r>
          </a:p>
        </p:txBody>
      </p:sp>
      <p:pic>
        <p:nvPicPr>
          <p:cNvPr id="4" name="Picture 3" descr="16_probability_rule_decis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4604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486</Words>
  <Application>Microsoft Office PowerPoint</Application>
  <PresentationFormat>Widescreen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Arnab Chakraborty</cp:lastModifiedBy>
  <cp:revision>2</cp:revision>
  <dcterms:created xsi:type="dcterms:W3CDTF">2013-01-27T09:14:16Z</dcterms:created>
  <dcterms:modified xsi:type="dcterms:W3CDTF">2026-08-30T03:17:08Z</dcterms:modified>
  <cp:category/>
</cp:coreProperties>
</file>